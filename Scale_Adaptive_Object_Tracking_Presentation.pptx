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KARUNYA INSTITUTE OF TECHNOLOGY AND SCIENCES</a:t>
            </a:r>
          </a:p>
          <a:p>
            <a:pPr>
              <a:spcAft>
                <a:spcPts val="2000"/>
              </a:spcAft>
              <a:defRPr sz="1100">
                <a:solidFill>
                  <a:srgbClr val="64748B"/>
                </a:solidFill>
              </a:defRPr>
            </a:pPr>
            <a:r>
              <a:t>DIVISION OF ARTIFICIAL INTELLIGENCE AND MACHINE LEARNING</a:t>
            </a:r>
          </a:p>
          <a:p>
            <a:pPr>
              <a:spcAft>
                <a:spcPts val="800"/>
              </a:spcAft>
              <a:defRPr sz="2600" b="1">
                <a:solidFill>
                  <a:srgbClr val="1E3A8A"/>
                </a:solidFill>
              </a:defRPr>
            </a:pPr>
            <a:r>
              <a:t>Scale-Adaptive Hybrid Object Tracking &amp; Kinematic Motion Analysis</a:t>
            </a:r>
          </a:p>
          <a:p>
            <a:pPr>
              <a:spcAft>
                <a:spcPts val="2800"/>
              </a:spcAft>
              <a:defRPr sz="1500">
                <a:solidFill>
                  <a:srgbClr val="0284C7"/>
                </a:solidFill>
              </a:defRPr>
            </a:pPr>
            <a:r>
              <a:t>Robust Optical Flow, RANSAC Affine Consensus, and Kalman State Estimation</a:t>
            </a:r>
          </a:p>
          <a:p>
            <a:pPr>
              <a:defRPr sz="1200" b="1">
                <a:solidFill>
                  <a:srgbClr val="1F2937"/>
                </a:solidFill>
              </a:defRPr>
            </a:pPr>
            <a:r>
              <a:t>Course: 24AI2002 - Foundations of Computer Vision (Skill-Based Evaluation)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Submitted By: &lt;&lt;Team Member Name(s)&gt;&gt; (&lt;&lt;Reg.No(s)&gt;&gt;)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Faculty Guide: Ms. Mary Shreya, Assistant Professor, Division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Visual Object Tracking (VOT)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VOT is fundamental for autonomous navigation, drone surveillance, robotics, and traffic speed monitoring.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The objective is to estimate the persistent spatial position, scale, and kinematic trajectory of a target across temporal video frames.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Real-world challenges include rapid acceleration, perspective zooming, partial occlusion, and illumination shifts.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Deep Learning vs. Classical Approaches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Deep Trackers (YOLO + DeepSORT / Transformers): Deliver high accuracy but require expensive dedicated GPUs, suffer high latency (4-6 FPS on CPU), and demand large pre-training datasets.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Classical Differential Trackers (Lucas-Kanade): Run at high FPS (&gt;60 FPS) on simple CPUs but suffer from cumulative drift, rigid window sizes, and failure during turns.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• Our Motivation: Can we bridge this gap by engineering a self-healing hybrid tracker that achieves research-grade robustness on standard CPU hardware (&gt;30 FPS) without deep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Key Classical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Cumulative Spatial Drift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Standard optical flow is greedy. Pixels that slide onto passing shadows, moving asphalt, or road stripes are tracked indefinitely, dragging the bounding box away from the vehicle.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The Rigid Bounding Box Problem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Conventional single-object trackers enforce a fixed width and height (w x h). When a vehicle drives into the distance, it shrinks, but the box stays large, capturing mostly background clutter.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3. Kalman Kinematic Prediction Latency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Constant-velocity linear Kalman filters assume straight-line motion. When targets make sudden sharp turns or U-turns, the Kalman filter lags behind and falsely rejects valid visual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4. Boundary Failure &amp; Out-of-Bounds Runaway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When vehicles approach image boundaries, velocity vectors point off-screen, causing standard predictors to project targets into non-existent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1. Dynamic 2D Affine Scale Adaptation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Design a dynamic bounding box morphing mechanism that automatically expands or contracts using RANSAC affine transformations as target distance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2. Zero-Drift Point Management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Eliminate tracking drift by combining bidirectional Lucas-Kanade flow with sub-pixel Forward-Backward (FB) error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3. Strong Geometry Gating Policy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Overcome Kalman filter latency during sudden maneuvers by implementing a geometric inlier consensus override.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4. Boundary Damping &amp; Extreme Recovery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Prevent out-of-bounds trajectory divergence at screen borders and implement adaptive multi-scale corner sensitivity for tiny distant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5. Empirical Benchmarking &amp; Telemetry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r>
              <a:t>Log frame-accurate physical telemetry (velocity, speed in km/h, inliers, confidence) and benchmark against 46 hand-annotated Ground Truth 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Review: Theoretical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Lucas &amp; Kanade (1981) - Differential Optical Flow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Formulated the Brightness Constancy Equation: Ix*u + Iy*v + It = 0. Solves local motion via least-squares. Fast, but vulnerable to aperture ambiguities.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Shi &amp; Tomasi (1994) - Good Features to Track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Evaluated the minimum eigenvalue of the second-moment structure tensor min(lambda1, lambda2) &gt; threshold to detect optimal tracking corners.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Kalal et al. (2010) - Forward-Backward (FB) Error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Enforces temporal reversibility (t -&gt; t+1 -&gt; t). Features with error ||P_orig - P_back|| &gt;= 1.5 px are flagged as unstable and discarded.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Fischler &amp; Bolles (1981) - RANSAC Consensus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Random Sample Consensus isolates the true rigid body motion of the target, rejecting background outliers and shadow interference.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Kalman (1960) - Linear State Estimation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Recursive predictor modeling continuous kinematics [x, y, vx, vy]^T. Maintains tracking continuity through temporary visual dropouts.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Pipeline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8037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Methodology &amp; Core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3455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1. Affine Scale Morphing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Computes partial affine matrix M via RANSAC.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Transforms all 4 bounding box corners: C' = M * C.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Clamps frame-to-frame scale ratio to [0.70x, 1.40x] to prevent explosive box enlargement.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Allows the tracker to tightly track objects as they zoom or move far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13455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2. Strong Geometry Override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Standard trackers falsely reject visual detections when the Kalman filter lags during sharp turns.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Our Gate: Confidence &gt;= 0.42 OR Strong Geometry.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If inliers &gt;= 8 and FB error &lt; 0.9 px, the system overrules the lagging Kalman prediction.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Ensures uninterrupted tracking during vehicular maneuvers.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13455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3. Boundary Velocity Damping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Vehicles approaching screen borders often cause velocity runaway.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When x &gt; width - 70 px, horizontal velocity vx is clamped &lt;= 0.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</a:defRPr>
            </a:pPr>
            <a:r>
              <a:t>• When target shrinks (&lt; 45 px), corner sensitivity is relaxed (minDistance=3, qualityLevel=0.003).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Implementation &amp; Engineering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Core Technical Features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Language &amp; Libraries: Python 3.10, OpenCV 4.8.0, NumPy, Matplotlib.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Zero-Shot &amp; Class-Agnostic: No dataset pre-training needed. Tracks cars, pedestrians, drones, or any textured target.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Real-World Speed Calibration: Converts pixel displacement into physical metric speed: Speed (km/h) = (Velocity * FPS / PPM) * 3.6.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Interactive Speed Trail: Dynamic fading trajectory trail color-coded by speed (Green &lt; 25 km/h, Yellow 25-50 km/h, Red &gt; 50 km/h).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Deployment &amp; Telemetry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Dual Source Execution: Supports recorded video files and live laptop webcams (--source 0) using DirectShow.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Automated Logging: Writes per-frame bounding coordinates, velocity, inliers, FB error, and confidence to CSV.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Modular Architecture: Clean functional separation (clip_box, detect_features, transform_box, clamp_scale).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Lightweight Footprint: Pure CPU execution; does not require CUDA GPUs or heavy neural network runtimes.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Results: Ground Truth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Tracker 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IoU &gt;= 0.50 (%)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Center Error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Stage 5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0.1240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6.52%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239.1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Stage 6A (Original)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0.2070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6.52%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70.57 px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Stage 6A (Corrected)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0.2707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32.61%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148.8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Stage 9A (Transition)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0.2799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32.61%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139.4 px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Stage 10 (Master Tracker)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0.2776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32.61%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152.9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658368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KEY QUANTITATIVE MILESTONES: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• 500% Increase in High Overlap: High tracking accuracy (IoU &gt;= 0.50) surged from 6.52% in rigid-box baselines to 32.61% with Affine Scale Morphing.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• Failure of Static Templates: Stage 9C edge templates failed under 3D vehicular rotation (matching score dropped to 0.12). Stage 10 replaced it with geometric consensus.</a:t>
            </a:r>
          </a:p>
        </p:txBody>
      </p:sp>
      <p:pic>
        <p:nvPicPr>
          <p:cNvPr id="6" name="Picture 5" descr="stage8g_i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4048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Computational Efficiency &amp; FPS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4849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498"/>
                <a:gridCol w="3149498"/>
                <a:gridCol w="3149499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Deep Learning Tracker (YOLOv8 + ByteTrack)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Stage 10 Master Tracker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Hardware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High-End NVIDIA CUDA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Standard Intel Core i5 CPU (Pure 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Inference Throughput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4.2 - 6.8 FPS (on CPU)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30.8 FPS (Real-Time Smooth)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Scale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Detector bounding box re-computation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Sub-pixel 2D Affine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Model Footprint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&gt; 500 MB Neural Network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Lightweight Python Script (&lt; 15 KB)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Initialization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Class-Restricted (Pre-trained on COCO)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Class-Agnostic Zero-Shot (Any Object)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846320"/>
            <a:ext cx="9448495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Real-Time Embedded Readiness: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Because our tracker operates without neural network dependencies, it processes video comfortably above broadcast frame rates (30.8 FPS) on modest CPU architectures, making it immediately viable for low-power edge microcontrollers (Raspberry Pi 4, Jetson Nano, drone flight controllers).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Novelty: What Makes Our Work Unique?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1. Dynamic Affine Scale Morphing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Transformed all 4 corners using RANSAC affine matrix M + non-linear ratio clamping [0.70x, 1.40x] to eliminate fixed-box degradation without deep detectors.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2. Strong Geometry Gating Policy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Overcame the classic Kalman turn latency trap by establishing a sub-pixel inlier override that accepts true maneuvers even when linear predictions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3. Boundary Velocity Damping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Dynamically clamped horizontal velocity (vx &lt;= 0) at the screen edge to prevent trajectory runaway during edge U-turns.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4. 500% Performance Surge on CPU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Achieved a 5x surge in high-overlap tracking (IoU &gt;= 0.50 from 6.52% to 32.61%) running in real-time at 30+ FPS on pure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24AI2002 - FOUNDATIONS OF COMPUTER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Key Contributions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Successfully developed and verified a Scale-Adaptive Hybrid Object Tracker on pure CPU hardware.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Eliminated tracking drift via bidirectional Lucas-Kanade validation and RANSAC affine modeling.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Demonstrated a 5x surge in high-accuracy tracking overlap (IoU &gt;= 0.50) on hand-annotated Ground Truth.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Maintained real-time execution speeds of 30.8 FPS on standard Intel Core i5 CPU.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Future Scope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Semantic Re-Identification: Integrate lightweight MobileNet feature embeddings to handle multi-second full occlusions.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Multi-Target Extension: Spawn independent parallel tracking threads indexed by unique object IDs.</a:t>
            </a:r>
          </a:p>
          <a:p>
            <a:pPr>
              <a:spcAft>
                <a:spcPts val="1000"/>
              </a:spcAft>
              <a:defRPr sz="1150">
                <a:solidFill>
                  <a:srgbClr val="1F2937"/>
                </a:solidFill>
              </a:defRPr>
            </a:pPr>
            <a:r>
              <a:t>• Edge Hardware Deployment: Deploy pipeline onto low-power drone companion computers (Raspberry Pi 4 / Jetson Nano) for automated aerial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